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DGX 架构深度解析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76B900"/>
                </a:solidFill>
              </a:rPr>
              <a:t>NVIDIA DGX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从单节点 H100 到 SuperPOD 集群的全栈互联设计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</a:rPr>
              <a:t>GPU Cluster Architecture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DGX H100 单机架构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B900"/>
                </a:solidFill>
              </a:rPr>
              <a:t>8× H100 SXM5  ·  4× NVSwitch 3.0  ·  全互联 Non-blocking Fabric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804672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0" y="1097280"/>
            <a:ext cx="3566160" cy="5029200"/>
          </a:xfrm>
          <a:prstGeom prst="rect">
            <a:avLst/>
          </a:prstGeom>
          <a:solidFill>
            <a:srgbClr val="122012"/>
          </a:solidFill>
          <a:ln w="1524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6B900"/>
                </a:solidFill>
              </a:rPr>
              <a:t>Key Specs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16002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GPU: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6002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8× H100 SXM5 80GB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00253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GPU算力: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00253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32 PFLOPS (BF16)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4048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显存: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4048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640 GB HBM3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8072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NVLink: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8072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3.2 TB/s 双向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2095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NVSwitch: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20954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4× 第三代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611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网络HCA: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6118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8× 400G InfiniBand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01421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CPU: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01421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2× Intel Xeon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41655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系统内存: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4165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2 TB DDR5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8188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存储: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4818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30 TB NVMe SSD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522122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AAAAA"/>
                </a:solidFill>
              </a:rPr>
              <a:t>TDP: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52212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10.2 kW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NVLink 与互联技术演进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B900"/>
                </a:solidFill>
              </a:rPr>
              <a:t>从 PCIe 到 NVLink 4.0 —— 带宽的数量级提升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06640" y="1188720"/>
            <a:ext cx="4480560" cy="347472"/>
          </a:xfrm>
          <a:prstGeom prst="rect">
            <a:avLst/>
          </a:prstGeom>
          <a:solidFill>
            <a:srgbClr val="1F3A1F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225296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B900"/>
                </a:solidFill>
              </a:rPr>
              <a:t>NVLink 4.0 特性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53619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每 GPU 18 条 NVLink 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88366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单向带宽：450 GB/s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23113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双向带宽：900 GB/s/GPU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57860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全系统 3.2 TB/s（8-GPU）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3108960"/>
            <a:ext cx="4480560" cy="347472"/>
          </a:xfrm>
          <a:prstGeom prst="rect">
            <a:avLst/>
          </a:prstGeom>
          <a:solidFill>
            <a:srgbClr val="1F3A1F"/>
          </a:solidFill>
          <a:ln w="127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145536"/>
            <a:ext cx="4297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B900"/>
                </a:solidFill>
              </a:rPr>
              <a:t>NVSwitch 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4564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总切换容量：3.6 TB/s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80390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延迟 &lt; 1 μs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15137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All-to-All 无竞争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4988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SHARP in-network compute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DGX SuperPOD 集群架构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B900"/>
                </a:solidFill>
              </a:rPr>
              <a:t>胖树网络拓扑  ·  400G InfiniBand HDR400  ·  可扩展到数千 GPU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841248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732520" y="1097280"/>
            <a:ext cx="3291840" cy="5120640"/>
          </a:xfrm>
          <a:prstGeom prst="rect">
            <a:avLst/>
          </a:prstGeom>
          <a:solidFill>
            <a:srgbClr val="0D1A2A"/>
          </a:solidFill>
          <a:ln w="15240">
            <a:solidFill>
              <a:srgbClr val="00B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3E6"/>
                </a:solidFill>
              </a:rPr>
              <a:t>SuperPOD 规格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配置：20 × DGX H100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1762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GPU 总数：160 × H100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70662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GPU 算力：~1 ExaFLOPS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323697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节点互联：8× 400G IB/节点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7673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集群存储：≥1 PB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4297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RDMA over InfiniBand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828031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支持 RoCEv2 以太网方案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35838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• 可横向扩展：多 SuperPOD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DGX H100 存储与内存层次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B900"/>
                </a:solidFill>
              </a:rPr>
              <a:t>多层次存储设计 —— 带宽与容量的完美平衡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822960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95360" y="1188720"/>
            <a:ext cx="3383280" cy="1051560"/>
          </a:xfrm>
          <a:prstGeom prst="rect">
            <a:avLst/>
          </a:prstGeom>
          <a:solidFill>
            <a:srgbClr val="101A10"/>
          </a:solidFill>
          <a:ln w="1016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2435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6B900"/>
                </a:solidFill>
              </a:rPr>
              <a:t>HBM3 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159105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80 GB / GPU，3.35 TB/s，
比 GDDR6X 快 3×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2377440"/>
            <a:ext cx="3383280" cy="1051560"/>
          </a:xfrm>
          <a:prstGeom prst="rect">
            <a:avLst/>
          </a:prstGeom>
          <a:solidFill>
            <a:srgbClr val="101A10"/>
          </a:solidFill>
          <a:ln w="1016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4323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6B900"/>
                </a:solidFill>
              </a:rPr>
              <a:t>NVLink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77977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Peer GPU 直接访问，
无需 CPU 中转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3566160"/>
            <a:ext cx="3383280" cy="1051560"/>
          </a:xfrm>
          <a:prstGeom prst="rect">
            <a:avLst/>
          </a:prstGeom>
          <a:solidFill>
            <a:srgbClr val="101A10"/>
          </a:solidFill>
          <a:ln w="1016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36210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6B900"/>
                </a:solidFill>
              </a:rPr>
              <a:t>PCIe 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396849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CPU↔GPU 传输 64 GB/s,
主机内存 2 TB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4754880"/>
            <a:ext cx="3383280" cy="1051560"/>
          </a:xfrm>
          <a:prstGeom prst="rect">
            <a:avLst/>
          </a:prstGeom>
          <a:solidFill>
            <a:srgbClr val="101A10"/>
          </a:solidFill>
          <a:ln w="1016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48097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6B900"/>
                </a:solidFill>
              </a:rPr>
              <a:t>NVMe SSD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515721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30 TB 本地 NVMe,
顺序读 &gt; 200 GB/s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DGX 产品线对比与总结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6B900"/>
                </a:solidFill>
              </a:rPr>
              <a:t>A100 → H100 → GH200 —— 每代性能跨越式提升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05840"/>
            <a:ext cx="658368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0" y="1051560"/>
            <a:ext cx="5166360" cy="5166360"/>
          </a:xfrm>
          <a:prstGeom prst="rect">
            <a:avLst/>
          </a:prstGeom>
          <a:solidFill>
            <a:srgbClr val="10101E"/>
          </a:solidFill>
          <a:ln w="1524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143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6B900"/>
                </a:solidFill>
              </a:rPr>
              <a:t>核心设计理念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6002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3E6"/>
                </a:solidFill>
              </a:rPr>
              <a:t>Scale-Up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6002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NVLink/NVSwitch 构建节点内
全互联，消除通信瓶颈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3E6"/>
                </a:solidFill>
              </a:rPr>
              <a:t>Scale-Out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InfiniBand 高带宽低延迟互联
扩展至数千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33756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3E6"/>
                </a:solidFill>
              </a:rPr>
              <a:t>HBM3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3375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超高显存带宽匹配 AI 计算
强度，避免内存墙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20624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3E6"/>
                </a:solidFill>
              </a:rPr>
              <a:t>全栈优化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CUDA/NCCL/cuDNN 深度协同，
最大化硬件利用率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0749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3E6"/>
                </a:solidFill>
              </a:rPr>
              <a:t>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0749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DGX = GPU + NVLink + NVSwitch
+ IB + 软件栈的一体化方案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